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147475647" r:id="rId2"/>
    <p:sldId id="2147475648" r:id="rId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4" autoAdjust="0"/>
    <p:restoredTop sz="94660"/>
  </p:normalViewPr>
  <p:slideViewPr>
    <p:cSldViewPr snapToGrid="0">
      <p:cViewPr>
        <p:scale>
          <a:sx n="125" d="100"/>
          <a:sy n="125" d="100"/>
        </p:scale>
        <p:origin x="870" y="8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260164-FC2F-4616-A05B-E6C491361946}" type="datetimeFigureOut">
              <a:rPr lang="zh-CN" altLang="en-US" smtClean="0"/>
              <a:t>2026/10/8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31E35C-218F-415C-860A-363673A8BC21}" type="slidenum">
              <a:rPr lang="zh-CN" altLang="en-US" smtClean="0"/>
              <a:t>‹#›</a:t>
            </a:fld>
            <a:endParaRPr lang="zh-CN" altLang="en-US"/>
          </a:p>
        </p:txBody>
      </p:sp>
    </p:spTree>
    <p:extLst>
      <p:ext uri="{BB962C8B-B14F-4D97-AF65-F5344CB8AC3E}">
        <p14:creationId xmlns:p14="http://schemas.microsoft.com/office/powerpoint/2010/main" val="17900827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Thank you very much for this invitation, and congratulations to all the teams.</a:t>
            </a:r>
          </a:p>
          <a:p>
            <a:r>
              <a:t>My name is Tomasz Kisiel. I am from Carrotly, a software team from Kraków, in Poland. At HackYeah we built SafeMesh, and we won second place in the Huawei challenge.</a:t>
            </a:r>
          </a:p>
          <a:p>
            <a:r>
              <a:t>Imagine a crisis in a city: a flood, a blackout, or an attack. The cell towers go down, and your phone shows "no service". This is exactly the moment when people need a warning. But emergency alerts come through the mobile network. Without towers, they cannot arrive.</a:t>
            </a:r>
          </a:p>
          <a:p>
            <a:r>
              <a:t>SafeMesh solves this. An official issuer signs a warning. Phone A receives it and passes it to phone B over NearLink, with no network at all. Then B walks on, and later passes it to phone C. C was never near the source, but it still gets the warning.</a:t>
            </a:r>
          </a:p>
          <a:p>
            <a:r>
              <a:t>And every phone checks the signature by itself. If someone changes even one letter, the phone rejects the message and does not pass it on. So fake news cannot travel through SafeMesh.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SafeMesh in twenty-four hours, as a native HarmonyOS app. It has three parts. Signed alerts, checked on the phone with the Crypto Architecture Kit. A phone-to-phone relay, with a NearLink Kit adapter. And an offline map with forty protective points in Kraków.</a:t>
            </a:r>
          </a:p>
          <a:p>
            <a:r>
              <a:t>We showed the full relay, from A to B to C, on three HarmonyOS emulators. The same code also builds for OpenHarmony, and runs on the Eclipse Oniro emulator.</a:t>
            </a:r>
          </a:p>
          <a:p>
            <a:r>
              <a:t>Our next step is the first test on real NearLink phones. We would be very happy to do it together with Huawei.</a:t>
            </a:r>
          </a:p>
          <a:p>
            <a:r>
              <a:t>Your motto this year is "Better Together". This is exactly how SafeMesh works. One phone alone cannot reach everyone. But together, they can.</a:t>
            </a:r>
          </a:p>
          <a:p>
            <a:r>
              <a:t>Thank you very much.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自定义版式">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BEDC39BB-75B6-12F5-A921-88B5B867E761}"/>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548938" y="6330950"/>
            <a:ext cx="1249362"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图片 3">
            <a:extLst>
              <a:ext uri="{FF2B5EF4-FFF2-40B4-BE49-F238E27FC236}">
                <a16:creationId xmlns:a16="http://schemas.microsoft.com/office/drawing/2014/main" id="{C98065F4-45E5-20F9-8919-73FE901EC35C}"/>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9332913" y="6248400"/>
            <a:ext cx="954087" cy="428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0" name="Picture 2">
            <a:extLst>
              <a:ext uri="{FF2B5EF4-FFF2-40B4-BE49-F238E27FC236}">
                <a16:creationId xmlns:a16="http://schemas.microsoft.com/office/drawing/2014/main" id="{7F28869E-C037-4FE9-BD97-2A26E4041634}"/>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805792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4A50E8FD-E3DF-42D3-8D23-D897BF9358B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D99B87BE-896D-47D4-AF6A-9DEEB368A3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66012CE-5624-492F-BE5E-EC7BA4FF8B6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1321D7-82DF-43D4-8770-75A2B15C3250}" type="datetimeFigureOut">
              <a:rPr lang="zh-CN" altLang="en-US" smtClean="0"/>
              <a:t>2026/10/8</a:t>
            </a:fld>
            <a:endParaRPr lang="zh-CN" altLang="en-US"/>
          </a:p>
        </p:txBody>
      </p:sp>
      <p:sp>
        <p:nvSpPr>
          <p:cNvPr id="5" name="页脚占位符 4">
            <a:extLst>
              <a:ext uri="{FF2B5EF4-FFF2-40B4-BE49-F238E27FC236}">
                <a16:creationId xmlns:a16="http://schemas.microsoft.com/office/drawing/2014/main" id="{BE4E0A97-EA4F-4336-9CF8-29EEB9E09A6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B2B8596E-31EF-471C-BF23-532A38F2DA3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1B6F79C-5B6D-486C-9AF6-AB5CFCCCDB73}" type="slidenum">
              <a:rPr lang="zh-CN" altLang="en-US" smtClean="0"/>
              <a:t>‹#›</a:t>
            </a:fld>
            <a:endParaRPr lang="zh-CN" altLang="en-US"/>
          </a:p>
        </p:txBody>
      </p:sp>
    </p:spTree>
    <p:extLst>
      <p:ext uri="{BB962C8B-B14F-4D97-AF65-F5344CB8AC3E}">
        <p14:creationId xmlns:p14="http://schemas.microsoft.com/office/powerpoint/2010/main" val="2368039494"/>
      </p:ext>
    </p:extLst>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content (image)" descr="slide-1-no-diagram.png"/>
          <p:cNvPicPr>
            <a:picLocks noChangeAspect="1"/>
          </p:cNvPicPr>
          <p:nvPr/>
        </p:nvPicPr>
        <p:blipFill>
          <a:blip r:embed="rId4"/>
          <a:stretch>
            <a:fillRect/>
          </a:stretch>
        </p:blipFill>
        <p:spPr>
          <a:xfrm>
            <a:off x="0" y="0"/>
            <a:ext cx="12192000" cy="6858000"/>
          </a:xfrm>
          <a:prstGeom prst="rect">
            <a:avLst/>
          </a:prstGeom>
        </p:spPr>
      </p:pic>
      <p:cxnSp>
        <p:nvCxnSpPr>
          <p:cNvPr id="4" name="Arrow issuer to A"/>
          <p:cNvCxnSpPr/>
          <p:nvPr/>
        </p:nvCxnSpPr>
        <p:spPr>
          <a:xfrm>
            <a:off x="1530350" y="4940300"/>
            <a:ext cx="1181100" cy="0"/>
          </a:xfrm>
          <a:prstGeom prst="line">
            <a:avLst/>
          </a:prstGeom>
          <a:ln w="25400">
            <a:solidFill>
              <a:srgbClr val="1B5A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Arrow A to B"/>
          <p:cNvCxnSpPr/>
          <p:nvPr/>
        </p:nvCxnSpPr>
        <p:spPr>
          <a:xfrm>
            <a:off x="3435350" y="4940300"/>
            <a:ext cx="1181100" cy="0"/>
          </a:xfrm>
          <a:prstGeom prst="line">
            <a:avLst/>
          </a:prstGeom>
          <a:ln w="25400" cap="rnd">
            <a:solidFill>
              <a:srgbClr val="1B5A46"/>
            </a:solidFill>
            <a:prstDash val="sysDot"/>
            <a:tailEnd type="triangle" w="med" len="med"/>
          </a:ln>
        </p:spPr>
        <p:style>
          <a:lnRef idx="2">
            <a:schemeClr val="accent1"/>
          </a:lnRef>
          <a:fillRef idx="0">
            <a:schemeClr val="accent1"/>
          </a:fillRef>
          <a:effectRef idx="1">
            <a:schemeClr val="accent1"/>
          </a:effectRef>
          <a:fontRef idx="minor">
            <a:schemeClr val="tx1"/>
          </a:fontRef>
        </p:style>
      </p:cxnSp>
      <p:cxnSp>
        <p:nvCxnSpPr>
          <p:cNvPr id="6" name="Arrow B to C"/>
          <p:cNvCxnSpPr/>
          <p:nvPr/>
        </p:nvCxnSpPr>
        <p:spPr>
          <a:xfrm>
            <a:off x="5340350" y="4940300"/>
            <a:ext cx="1181100" cy="0"/>
          </a:xfrm>
          <a:prstGeom prst="line">
            <a:avLst/>
          </a:prstGeom>
          <a:ln w="25400" cap="rnd">
            <a:solidFill>
              <a:srgbClr val="1B5A46"/>
            </a:solidFill>
            <a:prstDash val="sysDot"/>
            <a:tailEnd type="triangle" w="med" len="med"/>
          </a:ln>
        </p:spPr>
        <p:style>
          <a:lnRef idx="2">
            <a:schemeClr val="accent1"/>
          </a:lnRef>
          <a:fillRef idx="0">
            <a:schemeClr val="accent1"/>
          </a:fillRef>
          <a:effectRef idx="1">
            <a:schemeClr val="accent1"/>
          </a:effectRef>
          <a:fontRef idx="minor">
            <a:schemeClr val="tx1"/>
          </a:fontRef>
        </p:style>
      </p:cxnSp>
      <p:sp>
        <p:nvSpPr>
          <p:cNvPr id="7" name="Label NearLink"/>
          <p:cNvSpPr txBox="1"/>
          <p:nvPr/>
        </p:nvSpPr>
        <p:spPr>
          <a:xfrm>
            <a:off x="3397250" y="4692650"/>
            <a:ext cx="1270000" cy="139700"/>
          </a:xfrm>
          <a:prstGeom prst="rect">
            <a:avLst/>
          </a:prstGeom>
          <a:noFill/>
        </p:spPr>
        <p:txBody>
          <a:bodyPr wrap="square" lIns="0" rIns="0" tIns="0" bIns="0" anchor="t">
            <a:spAutoFit/>
          </a:bodyPr>
          <a:lstStyle/>
          <a:p>
            <a:pPr algn="ctr"/>
            <a:r>
              <a:rPr sz="900" b="1">
                <a:solidFill>
                  <a:srgbClr val="5A6A85"/>
                </a:solidFill>
                <a:latin typeface="Arial"/>
              </a:rPr>
              <a:t>NearLink</a:t>
            </a:r>
          </a:p>
        </p:txBody>
      </p:sp>
      <p:sp>
        <p:nvSpPr>
          <p:cNvPr id="8" name="Label later as B walks"/>
          <p:cNvSpPr txBox="1"/>
          <p:nvPr/>
        </p:nvSpPr>
        <p:spPr>
          <a:xfrm>
            <a:off x="5302250" y="4692650"/>
            <a:ext cx="1270000" cy="139700"/>
          </a:xfrm>
          <a:prstGeom prst="rect">
            <a:avLst/>
          </a:prstGeom>
          <a:noFill/>
        </p:spPr>
        <p:txBody>
          <a:bodyPr wrap="square" lIns="0" rIns="0" tIns="0" bIns="0" anchor="t">
            <a:spAutoFit/>
          </a:bodyPr>
          <a:lstStyle/>
          <a:p>
            <a:pPr algn="ctr"/>
            <a:r>
              <a:rPr sz="900" b="1">
                <a:solidFill>
                  <a:srgbClr val="5A6A85"/>
                </a:solidFill>
                <a:latin typeface="Arial"/>
              </a:rPr>
              <a:t>later, as B walks</a:t>
            </a:r>
          </a:p>
        </p:txBody>
      </p:sp>
      <p:sp>
        <p:nvSpPr>
          <p:cNvPr id="9" name="Issuer square"/>
          <p:cNvSpPr/>
          <p:nvPr/>
        </p:nvSpPr>
        <p:spPr>
          <a:xfrm>
            <a:off x="869950" y="4635500"/>
            <a:ext cx="609600" cy="609600"/>
          </a:xfrm>
          <a:prstGeom prst="roundRect">
            <a:avLst>
              <a:gd name="adj" fmla="val 31250"/>
            </a:avLst>
          </a:prstGeom>
          <a:solidFill>
            <a:srgbClr val="1B5A46"/>
          </a:solidFill>
          <a:ln>
            <a:noFill/>
          </a:ln>
          <a:effectLst/>
          <a:effectLst>
            <a:outerShdw blurRad="152400" dist="63500" dir="5400000" algn="t" rotWithShape="0">
              <a:srgbClr val="1F4080">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ring"/>
          <p:cNvSpPr/>
          <p:nvPr/>
        </p:nvSpPr>
        <p:spPr>
          <a:xfrm>
            <a:off x="1081617" y="4928658"/>
            <a:ext cx="93133" cy="93133"/>
          </a:xfrm>
          <a:prstGeom prst="ellipse">
            <a:avLst/>
          </a:prstGeom>
          <a:noFill/>
          <a:ln w="22860">
            <a:solidFill>
              <a:srgbClr val="D8F5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Key shaft"/>
          <p:cNvSpPr/>
          <p:nvPr/>
        </p:nvSpPr>
        <p:spPr>
          <a:xfrm>
            <a:off x="1163108" y="4835525"/>
            <a:ext cx="104775" cy="104775"/>
          </a:xfrm>
          <a:custGeom>
            <a:avLst/>
            <a:gdLst/>
            <a:ahLst/>
            <a:cxnLst/>
            <a:rect l="l" t="t" r="r" b="b"/>
            <a:pathLst>
              <a:path w="104775" h="104775">
                <a:moveTo>
                  <a:pt x="0" y="104775"/>
                </a:moveTo>
                <a:lnTo>
                  <a:pt x="104775" y="0"/>
                </a:lnTo>
              </a:path>
            </a:pathLst>
          </a:custGeom>
          <a:noFill/>
          <a:ln w="22860" cap="rnd">
            <a:solidFill>
              <a:srgbClr val="D8F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Key tooth 1"/>
          <p:cNvSpPr/>
          <p:nvPr/>
        </p:nvSpPr>
        <p:spPr>
          <a:xfrm>
            <a:off x="1232958" y="4870450"/>
            <a:ext cx="34925" cy="34925"/>
          </a:xfrm>
          <a:custGeom>
            <a:avLst/>
            <a:gdLst/>
            <a:ahLst/>
            <a:cxnLst/>
            <a:rect l="l" t="t" r="r" b="b"/>
            <a:pathLst>
              <a:path w="34925" h="34925">
                <a:moveTo>
                  <a:pt x="0" y="0"/>
                </a:moveTo>
                <a:lnTo>
                  <a:pt x="34925" y="34925"/>
                </a:lnTo>
              </a:path>
            </a:pathLst>
          </a:custGeom>
          <a:noFill/>
          <a:ln w="22860" cap="rnd">
            <a:solidFill>
              <a:srgbClr val="D8F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Key tooth 2"/>
          <p:cNvSpPr/>
          <p:nvPr/>
        </p:nvSpPr>
        <p:spPr>
          <a:xfrm>
            <a:off x="1209675" y="4893733"/>
            <a:ext cx="23283" cy="23284"/>
          </a:xfrm>
          <a:custGeom>
            <a:avLst/>
            <a:gdLst/>
            <a:ahLst/>
            <a:cxnLst/>
            <a:rect l="l" t="t" r="r" b="b"/>
            <a:pathLst>
              <a:path w="23283" h="23284">
                <a:moveTo>
                  <a:pt x="0" y="0"/>
                </a:moveTo>
                <a:lnTo>
                  <a:pt x="23283" y="23284"/>
                </a:lnTo>
              </a:path>
            </a:pathLst>
          </a:custGeom>
          <a:noFill/>
          <a:ln w="22860" cap="rnd">
            <a:solidFill>
              <a:srgbClr val="D8F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suer title"/>
          <p:cNvSpPr txBox="1"/>
          <p:nvPr/>
        </p:nvSpPr>
        <p:spPr>
          <a:xfrm>
            <a:off x="539750" y="5321300"/>
            <a:ext cx="1270000" cy="190500"/>
          </a:xfrm>
          <a:prstGeom prst="rect">
            <a:avLst/>
          </a:prstGeom>
          <a:noFill/>
        </p:spPr>
        <p:txBody>
          <a:bodyPr wrap="square" lIns="0" rIns="0" tIns="0" bIns="0" anchor="t">
            <a:spAutoFit/>
          </a:bodyPr>
          <a:lstStyle/>
          <a:p>
            <a:pPr algn="ctr"/>
            <a:r>
              <a:rPr sz="1200" b="1">
                <a:solidFill>
                  <a:srgbClr val="0F1F3D"/>
                </a:solidFill>
                <a:latin typeface="Arial"/>
              </a:rPr>
              <a:t>Issuer</a:t>
            </a:r>
          </a:p>
        </p:txBody>
      </p:sp>
      <p:sp>
        <p:nvSpPr>
          <p:cNvPr id="14" name="Issuer description"/>
          <p:cNvSpPr txBox="1"/>
          <p:nvPr/>
        </p:nvSpPr>
        <p:spPr>
          <a:xfrm>
            <a:off x="539750" y="5530850"/>
            <a:ext cx="1270000" cy="317500"/>
          </a:xfrm>
          <a:prstGeom prst="rect">
            <a:avLst/>
          </a:prstGeom>
          <a:noFill/>
        </p:spPr>
        <p:txBody>
          <a:bodyPr wrap="square" lIns="0" rIns="0" tIns="0" bIns="0" anchor="t">
            <a:spAutoFit/>
          </a:bodyPr>
          <a:lstStyle/>
          <a:p>
            <a:pPr algn="ctr"/>
            <a:r>
              <a:rPr sz="900" b="0">
                <a:solidFill>
                  <a:srgbClr val="5A6A85"/>
                </a:solidFill>
                <a:latin typeface="Arial"/>
              </a:rPr>
              <a:t>signs the alert</a:t>
            </a:r>
          </a:p>
        </p:txBody>
      </p:sp>
      <p:sp>
        <p:nvSpPr>
          <p:cNvPr id="15" name="Phone A square"/>
          <p:cNvSpPr/>
          <p:nvPr/>
        </p:nvSpPr>
        <p:spPr>
          <a:xfrm>
            <a:off x="2774950" y="4635500"/>
            <a:ext cx="609600" cy="609600"/>
          </a:xfrm>
          <a:prstGeom prst="roundRect">
            <a:avLst>
              <a:gd name="adj" fmla="val 31250"/>
            </a:avLst>
          </a:prstGeom>
          <a:solidFill>
            <a:srgbClr val="FFFFFF"/>
          </a:solidFill>
          <a:ln w="12700">
            <a:solidFill>
              <a:srgbClr val="D5E0F2"/>
            </a:solidFill>
          </a:ln>
          <a:effectLst/>
          <a:effectLst>
            <a:outerShdw blurRad="152400" dist="63500" dir="5400000" algn="t" rotWithShape="0">
              <a:srgbClr val="1F4080">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hone A icon"/>
          <p:cNvSpPr/>
          <p:nvPr/>
        </p:nvSpPr>
        <p:spPr>
          <a:xfrm>
            <a:off x="3016250" y="4832350"/>
            <a:ext cx="127000" cy="215900"/>
          </a:xfrm>
          <a:prstGeom prst="roundRect">
            <a:avLst>
              <a:gd name="adj" fmla="val 22500"/>
            </a:avLst>
          </a:prstGeom>
          <a:noFill/>
          <a:ln w="20955">
            <a:solidFill>
              <a:srgbClr val="243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hone A check"/>
          <p:cNvSpPr/>
          <p:nvPr/>
        </p:nvSpPr>
        <p:spPr>
          <a:xfrm>
            <a:off x="3232150" y="4572000"/>
            <a:ext cx="215900" cy="215900"/>
          </a:xfrm>
          <a:prstGeom prst="ellipse">
            <a:avLst/>
          </a:prstGeom>
          <a:solidFill>
            <a:srgbClr val="226446"/>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hone A check mark"/>
          <p:cNvSpPr/>
          <p:nvPr/>
        </p:nvSpPr>
        <p:spPr>
          <a:xfrm>
            <a:off x="3295650" y="4648200"/>
            <a:ext cx="92075" cy="66675"/>
          </a:xfrm>
          <a:custGeom>
            <a:avLst/>
            <a:gdLst/>
            <a:ahLst/>
            <a:cxnLst/>
            <a:rect l="l" t="t" r="r" b="b"/>
            <a:pathLst>
              <a:path w="92075" h="66675">
                <a:moveTo>
                  <a:pt x="0" y="34925"/>
                </a:moveTo>
                <a:lnTo>
                  <a:pt x="31750" y="66675"/>
                </a:lnTo>
                <a:lnTo>
                  <a:pt x="92075" y="0"/>
                </a:lnTo>
              </a:path>
            </a:pathLst>
          </a:custGeom>
          <a:noFill/>
          <a:ln w="21590" cap="rnd">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A title"/>
          <p:cNvSpPr txBox="1"/>
          <p:nvPr/>
        </p:nvSpPr>
        <p:spPr>
          <a:xfrm>
            <a:off x="2444750" y="5321300"/>
            <a:ext cx="1270000" cy="190500"/>
          </a:xfrm>
          <a:prstGeom prst="rect">
            <a:avLst/>
          </a:prstGeom>
          <a:noFill/>
        </p:spPr>
        <p:txBody>
          <a:bodyPr wrap="square" lIns="0" rIns="0" tIns="0" bIns="0" anchor="t">
            <a:spAutoFit/>
          </a:bodyPr>
          <a:lstStyle/>
          <a:p>
            <a:pPr algn="ctr"/>
            <a:r>
              <a:rPr sz="1200" b="1">
                <a:solidFill>
                  <a:srgbClr val="0F1F3D"/>
                </a:solidFill>
                <a:latin typeface="Arial"/>
              </a:rPr>
              <a:t>A</a:t>
            </a:r>
          </a:p>
        </p:txBody>
      </p:sp>
      <p:sp>
        <p:nvSpPr>
          <p:cNvPr id="20" name="A description"/>
          <p:cNvSpPr txBox="1"/>
          <p:nvPr/>
        </p:nvSpPr>
        <p:spPr>
          <a:xfrm>
            <a:off x="2444750" y="5530850"/>
            <a:ext cx="1270000" cy="317500"/>
          </a:xfrm>
          <a:prstGeom prst="rect">
            <a:avLst/>
          </a:prstGeom>
          <a:noFill/>
        </p:spPr>
        <p:txBody>
          <a:bodyPr wrap="square" lIns="0" rIns="0" tIns="0" bIns="0" anchor="t">
            <a:spAutoFit/>
          </a:bodyPr>
          <a:lstStyle/>
          <a:p>
            <a:pPr algn="ctr"/>
            <a:r>
              <a:rPr sz="900" b="0">
                <a:solidFill>
                  <a:srgbClr val="5A6A85"/>
                </a:solidFill>
                <a:latin typeface="Arial"/>
              </a:rPr>
              <a:t>verifies, stores,</a:t>
            </a:r>
          </a:p>
          <a:p>
            <a:pPr algn="ctr"/>
            <a:r>
              <a:rPr sz="900" b="0">
                <a:solidFill>
                  <a:srgbClr val="5A6A85"/>
                </a:solidFill>
                <a:latin typeface="Arial"/>
              </a:rPr>
              <a:t>passes on</a:t>
            </a:r>
          </a:p>
        </p:txBody>
      </p:sp>
      <p:sp>
        <p:nvSpPr>
          <p:cNvPr id="21" name="Phone B square"/>
          <p:cNvSpPr/>
          <p:nvPr/>
        </p:nvSpPr>
        <p:spPr>
          <a:xfrm>
            <a:off x="4679950" y="4635500"/>
            <a:ext cx="609600" cy="609600"/>
          </a:xfrm>
          <a:prstGeom prst="roundRect">
            <a:avLst>
              <a:gd name="adj" fmla="val 31250"/>
            </a:avLst>
          </a:prstGeom>
          <a:solidFill>
            <a:srgbClr val="FFFFFF"/>
          </a:solidFill>
          <a:ln w="12700">
            <a:solidFill>
              <a:srgbClr val="D5E0F2"/>
            </a:solidFill>
          </a:ln>
          <a:effectLst/>
          <a:effectLst>
            <a:outerShdw blurRad="152400" dist="63500" dir="5400000" algn="t" rotWithShape="0">
              <a:srgbClr val="1F4080">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hone B icon"/>
          <p:cNvSpPr/>
          <p:nvPr/>
        </p:nvSpPr>
        <p:spPr>
          <a:xfrm>
            <a:off x="4921250" y="4832350"/>
            <a:ext cx="127000" cy="215900"/>
          </a:xfrm>
          <a:prstGeom prst="roundRect">
            <a:avLst>
              <a:gd name="adj" fmla="val 22500"/>
            </a:avLst>
          </a:prstGeom>
          <a:noFill/>
          <a:ln w="20955">
            <a:solidFill>
              <a:srgbClr val="243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hone B check"/>
          <p:cNvSpPr/>
          <p:nvPr/>
        </p:nvSpPr>
        <p:spPr>
          <a:xfrm>
            <a:off x="5137150" y="4572000"/>
            <a:ext cx="215900" cy="215900"/>
          </a:xfrm>
          <a:prstGeom prst="ellipse">
            <a:avLst/>
          </a:prstGeom>
          <a:solidFill>
            <a:srgbClr val="226446"/>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hone B check mark"/>
          <p:cNvSpPr/>
          <p:nvPr/>
        </p:nvSpPr>
        <p:spPr>
          <a:xfrm>
            <a:off x="5200650" y="4648200"/>
            <a:ext cx="92075" cy="66675"/>
          </a:xfrm>
          <a:custGeom>
            <a:avLst/>
            <a:gdLst/>
            <a:ahLst/>
            <a:cxnLst/>
            <a:rect l="l" t="t" r="r" b="b"/>
            <a:pathLst>
              <a:path w="92075" h="66675">
                <a:moveTo>
                  <a:pt x="0" y="34925"/>
                </a:moveTo>
                <a:lnTo>
                  <a:pt x="31750" y="66675"/>
                </a:lnTo>
                <a:lnTo>
                  <a:pt x="92075" y="0"/>
                </a:lnTo>
              </a:path>
            </a:pathLst>
          </a:custGeom>
          <a:noFill/>
          <a:ln w="21590" cap="rnd">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 title"/>
          <p:cNvSpPr txBox="1"/>
          <p:nvPr/>
        </p:nvSpPr>
        <p:spPr>
          <a:xfrm>
            <a:off x="4349750" y="5321300"/>
            <a:ext cx="1270000" cy="190500"/>
          </a:xfrm>
          <a:prstGeom prst="rect">
            <a:avLst/>
          </a:prstGeom>
          <a:noFill/>
        </p:spPr>
        <p:txBody>
          <a:bodyPr wrap="square" lIns="0" rIns="0" tIns="0" bIns="0" anchor="t">
            <a:spAutoFit/>
          </a:bodyPr>
          <a:lstStyle/>
          <a:p>
            <a:pPr algn="ctr"/>
            <a:r>
              <a:rPr sz="1200" b="1">
                <a:solidFill>
                  <a:srgbClr val="0F1F3D"/>
                </a:solidFill>
                <a:latin typeface="Arial"/>
              </a:rPr>
              <a:t>B</a:t>
            </a:r>
          </a:p>
        </p:txBody>
      </p:sp>
      <p:sp>
        <p:nvSpPr>
          <p:cNvPr id="26" name="B description"/>
          <p:cNvSpPr txBox="1"/>
          <p:nvPr/>
        </p:nvSpPr>
        <p:spPr>
          <a:xfrm>
            <a:off x="4349750" y="5530850"/>
            <a:ext cx="1270000" cy="317500"/>
          </a:xfrm>
          <a:prstGeom prst="rect">
            <a:avLst/>
          </a:prstGeom>
          <a:noFill/>
        </p:spPr>
        <p:txBody>
          <a:bodyPr wrap="square" lIns="0" rIns="0" tIns="0" bIns="0" anchor="t">
            <a:spAutoFit/>
          </a:bodyPr>
          <a:lstStyle/>
          <a:p>
            <a:pPr algn="ctr"/>
            <a:r>
              <a:rPr sz="900" b="0">
                <a:solidFill>
                  <a:srgbClr val="5A6A85"/>
                </a:solidFill>
                <a:latin typeface="Arial"/>
              </a:rPr>
              <a:t>verifies,</a:t>
            </a:r>
          </a:p>
          <a:p>
            <a:pPr algn="ctr"/>
            <a:r>
              <a:rPr sz="900" b="0">
                <a:solidFill>
                  <a:srgbClr val="5A6A85"/>
                </a:solidFill>
                <a:latin typeface="Arial"/>
              </a:rPr>
              <a:t>carries it</a:t>
            </a:r>
          </a:p>
        </p:txBody>
      </p:sp>
      <p:sp>
        <p:nvSpPr>
          <p:cNvPr id="27" name="Phone C square"/>
          <p:cNvSpPr/>
          <p:nvPr/>
        </p:nvSpPr>
        <p:spPr>
          <a:xfrm>
            <a:off x="6584950" y="4635500"/>
            <a:ext cx="609600" cy="609600"/>
          </a:xfrm>
          <a:prstGeom prst="roundRect">
            <a:avLst>
              <a:gd name="adj" fmla="val 31250"/>
            </a:avLst>
          </a:prstGeom>
          <a:solidFill>
            <a:srgbClr val="FFFFFF"/>
          </a:solidFill>
          <a:ln w="12700">
            <a:solidFill>
              <a:srgbClr val="D5E0F2"/>
            </a:solidFill>
          </a:ln>
          <a:effectLst/>
          <a:effectLst>
            <a:outerShdw blurRad="152400" dist="63500" dir="5400000" algn="t" rotWithShape="0">
              <a:srgbClr val="1F4080">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hone C icon"/>
          <p:cNvSpPr/>
          <p:nvPr/>
        </p:nvSpPr>
        <p:spPr>
          <a:xfrm>
            <a:off x="6826250" y="4832350"/>
            <a:ext cx="127000" cy="215900"/>
          </a:xfrm>
          <a:prstGeom prst="roundRect">
            <a:avLst>
              <a:gd name="adj" fmla="val 22500"/>
            </a:avLst>
          </a:prstGeom>
          <a:noFill/>
          <a:ln w="20955">
            <a:solidFill>
              <a:srgbClr val="243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hone C check"/>
          <p:cNvSpPr/>
          <p:nvPr/>
        </p:nvSpPr>
        <p:spPr>
          <a:xfrm>
            <a:off x="7042150" y="4572000"/>
            <a:ext cx="215900" cy="215900"/>
          </a:xfrm>
          <a:prstGeom prst="ellipse">
            <a:avLst/>
          </a:prstGeom>
          <a:solidFill>
            <a:srgbClr val="226446"/>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hone C check mark"/>
          <p:cNvSpPr/>
          <p:nvPr/>
        </p:nvSpPr>
        <p:spPr>
          <a:xfrm>
            <a:off x="7105650" y="4648200"/>
            <a:ext cx="92075" cy="66675"/>
          </a:xfrm>
          <a:custGeom>
            <a:avLst/>
            <a:gdLst/>
            <a:ahLst/>
            <a:cxnLst/>
            <a:rect l="l" t="t" r="r" b="b"/>
            <a:pathLst>
              <a:path w="92075" h="66675">
                <a:moveTo>
                  <a:pt x="0" y="34925"/>
                </a:moveTo>
                <a:lnTo>
                  <a:pt x="31750" y="66675"/>
                </a:lnTo>
                <a:lnTo>
                  <a:pt x="92075" y="0"/>
                </a:lnTo>
              </a:path>
            </a:pathLst>
          </a:custGeom>
          <a:noFill/>
          <a:ln w="21590" cap="rnd">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 title"/>
          <p:cNvSpPr txBox="1"/>
          <p:nvPr/>
        </p:nvSpPr>
        <p:spPr>
          <a:xfrm>
            <a:off x="6254750" y="5321300"/>
            <a:ext cx="1270000" cy="190500"/>
          </a:xfrm>
          <a:prstGeom prst="rect">
            <a:avLst/>
          </a:prstGeom>
          <a:noFill/>
        </p:spPr>
        <p:txBody>
          <a:bodyPr wrap="square" lIns="0" rIns="0" tIns="0" bIns="0" anchor="t">
            <a:spAutoFit/>
          </a:bodyPr>
          <a:lstStyle/>
          <a:p>
            <a:pPr algn="ctr"/>
            <a:r>
              <a:rPr sz="1200" b="1">
                <a:solidFill>
                  <a:srgbClr val="0F1F3D"/>
                </a:solidFill>
                <a:latin typeface="Arial"/>
              </a:rPr>
              <a:t>C</a:t>
            </a:r>
          </a:p>
        </p:txBody>
      </p:sp>
      <p:sp>
        <p:nvSpPr>
          <p:cNvPr id="32" name="C description"/>
          <p:cNvSpPr txBox="1"/>
          <p:nvPr/>
        </p:nvSpPr>
        <p:spPr>
          <a:xfrm>
            <a:off x="6254750" y="5530850"/>
            <a:ext cx="1270000" cy="317500"/>
          </a:xfrm>
          <a:prstGeom prst="rect">
            <a:avLst/>
          </a:prstGeom>
          <a:noFill/>
        </p:spPr>
        <p:txBody>
          <a:bodyPr wrap="square" lIns="0" rIns="0" tIns="0" bIns="0" anchor="t">
            <a:spAutoFit/>
          </a:bodyPr>
          <a:lstStyle/>
          <a:p>
            <a:pPr algn="ctr"/>
            <a:r>
              <a:rPr sz="900" b="0">
                <a:solidFill>
                  <a:srgbClr val="5A6A85"/>
                </a:solidFill>
                <a:latin typeface="Arial"/>
              </a:rPr>
              <a:t>never near A,</a:t>
            </a:r>
          </a:p>
          <a:p>
            <a:pPr algn="ctr"/>
            <a:r>
              <a:rPr sz="900" b="0">
                <a:solidFill>
                  <a:srgbClr val="5A6A85"/>
                </a:solidFill>
                <a:latin typeface="Arial"/>
              </a:rPr>
              <a:t>still trusts it</a:t>
            </a:r>
          </a:p>
        </p:txBody>
      </p:sp>
      <p:sp>
        <p:nvSpPr>
          <p:cNvPr id="33" name="C forged copies rejected"/>
          <p:cNvSpPr txBox="1"/>
          <p:nvPr/>
        </p:nvSpPr>
        <p:spPr>
          <a:xfrm>
            <a:off x="5778500" y="5848350"/>
            <a:ext cx="2222500" cy="152400"/>
          </a:xfrm>
          <a:prstGeom prst="rect">
            <a:avLst/>
          </a:prstGeom>
          <a:noFill/>
        </p:spPr>
        <p:txBody>
          <a:bodyPr wrap="square" lIns="0" rIns="0" tIns="0" bIns="0" anchor="t">
            <a:spAutoFit/>
          </a:bodyPr>
          <a:lstStyle/>
          <a:p>
            <a:pPr algn="ctr"/>
            <a:r>
              <a:rPr sz="900" b="1">
                <a:solidFill>
                  <a:srgbClr val="A33826"/>
                </a:solidFill>
                <a:latin typeface="Arial"/>
              </a:rPr>
              <a:t>× forged copies rejected</a:t>
            </a:r>
          </a:p>
        </p:txBody>
      </p:sp>
    </p:spTree>
    <p:extLst>
      <p:ext uri="{BB962C8B-B14F-4D97-AF65-F5344CB8AC3E}">
        <p14:creationId xmlns:p14="http://schemas.microsoft.com/office/powerpoint/2010/main" val="83436162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5566</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等线</vt:lpstr>
      <vt:lpstr>等线 Light</vt:lpstr>
      <vt:lpstr>Arial</vt:lpstr>
      <vt:lpstr>Office 主题​​</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SafeMesh · Harmony Innovation Summit 2026</dc:title>
  <dc:creator>wangxi (F)</dc:creator>
  <cp:lastModifiedBy>Jaroslaw Marek</cp:lastModifiedBy>
  <cp:revision>84</cp:revision>
  <dcterms:created xsi:type="dcterms:W3CDTF">2026-08-24T06:51:36Z</dcterms:created>
  <dcterms:modified xsi:type="dcterms:W3CDTF">2026-10-08T12:04:07Z</dcterms:modified>
</cp:coreProperties>
</file>