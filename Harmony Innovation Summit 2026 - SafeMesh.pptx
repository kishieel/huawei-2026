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Lato"/>
      <p:regular r:id="rId9"/>
      <p:bold r:id="rId10"/>
      <p:italic r:id="rId11"/>
      <p:boldItalic r:id="rId12"/>
    </p:embeddedFont>
    <p:embeddedFont>
      <p:font typeface="Lato Black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LatoBlack-bold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14" Type="http://schemas.openxmlformats.org/officeDocument/2006/relationships/font" Target="fonts/LatoBlack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f6d3b1b212a0fbe_3_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h2f6d3b1b212a0fbe_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28c603cd17bccd8b_5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28c603cd17bccd8b_5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>
  <p:cSld name="自定义版式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1704" y="4748213"/>
            <a:ext cx="937021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9685" y="4686300"/>
            <a:ext cx="715565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4114925" y="1562125"/>
            <a:ext cx="3265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4000">
                <a:solidFill>
                  <a:schemeClr val="dk1"/>
                </a:solidFill>
              </a:rPr>
              <a:t>SafeMesh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114925" y="2308575"/>
            <a:ext cx="4966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2"/>
                </a:solidFill>
              </a:rPr>
              <a:t>One native app. </a:t>
            </a:r>
            <a:br>
              <a:rPr lang="pl" sz="1800">
                <a:solidFill>
                  <a:schemeClr val="dk2"/>
                </a:solidFill>
              </a:rPr>
            </a:br>
            <a:r>
              <a:rPr lang="pl" sz="1800">
                <a:solidFill>
                  <a:schemeClr val="dk2"/>
                </a:solidFill>
              </a:rPr>
              <a:t>Three ideas that only work together.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407650" y="3212375"/>
            <a:ext cx="1237200" cy="37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67" name="Google Shape;67;p15"/>
          <p:cNvSpPr/>
          <p:nvPr/>
        </p:nvSpPr>
        <p:spPr>
          <a:xfrm>
            <a:off x="5453128" y="32123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68" name="Google Shape;68;p15"/>
          <p:cNvSpPr/>
          <p:nvPr/>
        </p:nvSpPr>
        <p:spPr>
          <a:xfrm>
            <a:off x="4209575" y="32123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69" name="Google Shape;69;p15"/>
          <p:cNvSpPr txBox="1"/>
          <p:nvPr/>
        </p:nvSpPr>
        <p:spPr>
          <a:xfrm>
            <a:off x="4266325" y="3212375"/>
            <a:ext cx="1558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Native HarmonyOS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169950" y="3212375"/>
            <a:ext cx="1019700" cy="37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1" name="Google Shape;71;p15"/>
          <p:cNvSpPr/>
          <p:nvPr/>
        </p:nvSpPr>
        <p:spPr>
          <a:xfrm>
            <a:off x="7002628" y="32123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2" name="Google Shape;72;p15"/>
          <p:cNvSpPr/>
          <p:nvPr/>
        </p:nvSpPr>
        <p:spPr>
          <a:xfrm>
            <a:off x="5986125" y="32123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3" name="Google Shape;73;p15"/>
          <p:cNvSpPr txBox="1"/>
          <p:nvPr/>
        </p:nvSpPr>
        <p:spPr>
          <a:xfrm>
            <a:off x="6065225" y="3212375"/>
            <a:ext cx="1558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NearLink-ready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407650" y="3688975"/>
            <a:ext cx="1791600" cy="37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5" name="Google Shape;75;p15"/>
          <p:cNvSpPr/>
          <p:nvPr/>
        </p:nvSpPr>
        <p:spPr>
          <a:xfrm>
            <a:off x="6019578" y="36889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6" name="Google Shape;76;p15"/>
          <p:cNvSpPr/>
          <p:nvPr/>
        </p:nvSpPr>
        <p:spPr>
          <a:xfrm>
            <a:off x="4209575" y="36889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7" name="Google Shape;77;p15"/>
          <p:cNvSpPr txBox="1"/>
          <p:nvPr/>
        </p:nvSpPr>
        <p:spPr>
          <a:xfrm>
            <a:off x="4266325" y="3688975"/>
            <a:ext cx="207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OpenHarmony / Oniro build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751800" y="3688975"/>
            <a:ext cx="1019700" cy="37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79" name="Google Shape;79;p15"/>
          <p:cNvSpPr/>
          <p:nvPr/>
        </p:nvSpPr>
        <p:spPr>
          <a:xfrm>
            <a:off x="7584478" y="36889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80" name="Google Shape;80;p15"/>
          <p:cNvSpPr/>
          <p:nvPr/>
        </p:nvSpPr>
        <p:spPr>
          <a:xfrm>
            <a:off x="6567975" y="3688975"/>
            <a:ext cx="372000" cy="37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9475" lIns="189475" spcFirstLastPara="1" rIns="189475" wrap="square" tIns="1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1"/>
          </a:p>
        </p:txBody>
      </p:sp>
      <p:sp>
        <p:nvSpPr>
          <p:cNvPr id="81" name="Google Shape;81;p15"/>
          <p:cNvSpPr txBox="1"/>
          <p:nvPr/>
        </p:nvSpPr>
        <p:spPr>
          <a:xfrm>
            <a:off x="6647075" y="3688975"/>
            <a:ext cx="1253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Human-Centric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82" name="Google Shape;82;p15" title="Logo-huawe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174" y="4661124"/>
            <a:ext cx="1192094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{71CCDB83-A69F-4EA5-820A-ECEAD7B692DC} 1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00" y="-223799"/>
            <a:ext cx="4390799" cy="549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photo_2026-10-08_22-53-39.jpg"/>
          <p:cNvPicPr preferRelativeResize="0"/>
          <p:nvPr/>
        </p:nvPicPr>
        <p:blipFill rotWithShape="1">
          <a:blip r:embed="rId5">
            <a:alphaModFix/>
          </a:blip>
          <a:srcRect b="0" l="0" r="646" t="0"/>
          <a:stretch/>
        </p:blipFill>
        <p:spPr>
          <a:xfrm>
            <a:off x="1555575" y="887400"/>
            <a:ext cx="1449000" cy="3232800"/>
          </a:xfrm>
          <a:prstGeom prst="roundRect">
            <a:avLst>
              <a:gd fmla="val 9081" name="adj"/>
            </a:avLst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2234273" y="922875"/>
            <a:ext cx="68400" cy="68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31300" lIns="131300" spcFirstLastPara="1" rIns="131300" wrap="square" tIns="131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1"/>
          </a:p>
        </p:txBody>
      </p:sp>
      <p:sp>
        <p:nvSpPr>
          <p:cNvPr id="86" name="Google Shape;86;p15"/>
          <p:cNvSpPr/>
          <p:nvPr/>
        </p:nvSpPr>
        <p:spPr>
          <a:xfrm>
            <a:off x="2348010" y="922875"/>
            <a:ext cx="68400" cy="68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31300" lIns="131300" spcFirstLastPara="1" rIns="131300" wrap="square" tIns="131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1"/>
          </a:p>
        </p:txBody>
      </p:sp>
      <p:sp>
        <p:nvSpPr>
          <p:cNvPr id="87" name="Google Shape;87;p15"/>
          <p:cNvSpPr/>
          <p:nvPr/>
        </p:nvSpPr>
        <p:spPr>
          <a:xfrm>
            <a:off x="2120536" y="922875"/>
            <a:ext cx="68400" cy="68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31300" lIns="131300" spcFirstLastPara="1" rIns="131300" wrap="square" tIns="131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6"/>
          <p:cNvCxnSpPr/>
          <p:nvPr/>
        </p:nvCxnSpPr>
        <p:spPr>
          <a:xfrm>
            <a:off x="1832025" y="2463425"/>
            <a:ext cx="1181100" cy="0"/>
          </a:xfrm>
          <a:prstGeom prst="straightConnector1">
            <a:avLst/>
          </a:prstGeom>
          <a:noFill/>
          <a:ln cap="flat" cmpd="sng" w="25400">
            <a:solidFill>
              <a:srgbClr val="1B5A46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3" name="Google Shape;93;p16"/>
          <p:cNvCxnSpPr/>
          <p:nvPr/>
        </p:nvCxnSpPr>
        <p:spPr>
          <a:xfrm>
            <a:off x="3737025" y="2463425"/>
            <a:ext cx="1181100" cy="0"/>
          </a:xfrm>
          <a:prstGeom prst="straightConnector1">
            <a:avLst/>
          </a:prstGeom>
          <a:noFill/>
          <a:ln cap="rnd" cmpd="sng" w="25400">
            <a:solidFill>
              <a:srgbClr val="1B5A46"/>
            </a:solidFill>
            <a:prstDash val="dot"/>
            <a:miter lim="8000"/>
            <a:headEnd len="sm" w="sm" type="none"/>
            <a:tailEnd len="med" w="med" type="triangle"/>
          </a:ln>
        </p:spPr>
      </p:cxnSp>
      <p:cxnSp>
        <p:nvCxnSpPr>
          <p:cNvPr id="94" name="Google Shape;94;p16"/>
          <p:cNvCxnSpPr/>
          <p:nvPr/>
        </p:nvCxnSpPr>
        <p:spPr>
          <a:xfrm>
            <a:off x="5642025" y="2463425"/>
            <a:ext cx="1181100" cy="0"/>
          </a:xfrm>
          <a:prstGeom prst="straightConnector1">
            <a:avLst/>
          </a:prstGeom>
          <a:noFill/>
          <a:ln cap="rnd" cmpd="sng" w="25400">
            <a:solidFill>
              <a:srgbClr val="1B5A46"/>
            </a:solidFill>
            <a:prstDash val="dot"/>
            <a:miter lim="8000"/>
            <a:headEnd len="sm" w="sm" type="none"/>
            <a:tailEnd len="med" w="med" type="triangle"/>
          </a:ln>
        </p:spPr>
      </p:cxnSp>
      <p:sp>
        <p:nvSpPr>
          <p:cNvPr id="95" name="Google Shape;95;p16"/>
          <p:cNvSpPr txBox="1"/>
          <p:nvPr/>
        </p:nvSpPr>
        <p:spPr>
          <a:xfrm>
            <a:off x="3698925" y="2215775"/>
            <a:ext cx="1269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NearLink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603925" y="2215775"/>
            <a:ext cx="1269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" sz="900">
                <a:solidFill>
                  <a:schemeClr val="dk2"/>
                </a:solidFill>
              </a:rPr>
              <a:t>NearLink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171625" y="2158625"/>
            <a:ext cx="609600" cy="609600"/>
          </a:xfrm>
          <a:prstGeom prst="roundRect">
            <a:avLst>
              <a:gd fmla="val 31250" name="adj"/>
            </a:avLst>
          </a:prstGeom>
          <a:solidFill>
            <a:srgbClr val="1B5A46"/>
          </a:solidFill>
          <a:ln>
            <a:noFill/>
          </a:ln>
          <a:effectLst>
            <a:outerShdw blurRad="152400" rotWithShape="0" algn="t" dir="5400000" dist="63500">
              <a:srgbClr val="1F408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383292" y="2451783"/>
            <a:ext cx="93000" cy="93000"/>
          </a:xfrm>
          <a:prstGeom prst="ellipse">
            <a:avLst/>
          </a:prstGeom>
          <a:noFill/>
          <a:ln cap="flat" cmpd="sng" w="22850">
            <a:solidFill>
              <a:srgbClr val="D8F5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464783" y="2358650"/>
            <a:ext cx="104775" cy="104775"/>
          </a:xfrm>
          <a:custGeom>
            <a:rect b="b" l="l" r="r" t="t"/>
            <a:pathLst>
              <a:path extrusionOk="0" h="104775" w="104775">
                <a:moveTo>
                  <a:pt x="0" y="104775"/>
                </a:moveTo>
                <a:lnTo>
                  <a:pt x="104775" y="0"/>
                </a:lnTo>
              </a:path>
            </a:pathLst>
          </a:custGeom>
          <a:noFill/>
          <a:ln cap="rnd" cmpd="sng" w="22850">
            <a:solidFill>
              <a:srgbClr val="D8F5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534633" y="2393575"/>
            <a:ext cx="34925" cy="34925"/>
          </a:xfrm>
          <a:custGeom>
            <a:rect b="b" l="l" r="r" t="t"/>
            <a:pathLst>
              <a:path extrusionOk="0" h="34925" w="34925">
                <a:moveTo>
                  <a:pt x="0" y="0"/>
                </a:moveTo>
                <a:lnTo>
                  <a:pt x="34925" y="34925"/>
                </a:lnTo>
              </a:path>
            </a:pathLst>
          </a:custGeom>
          <a:noFill/>
          <a:ln cap="rnd" cmpd="sng" w="22850">
            <a:solidFill>
              <a:srgbClr val="D8F5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511350" y="2416858"/>
            <a:ext cx="23283" cy="23284"/>
          </a:xfrm>
          <a:custGeom>
            <a:rect b="b" l="l" r="r" t="t"/>
            <a:pathLst>
              <a:path extrusionOk="0" h="23284" w="23283">
                <a:moveTo>
                  <a:pt x="0" y="0"/>
                </a:moveTo>
                <a:lnTo>
                  <a:pt x="23283" y="23284"/>
                </a:lnTo>
              </a:path>
            </a:pathLst>
          </a:custGeom>
          <a:noFill/>
          <a:ln cap="rnd" cmpd="sng" w="22850">
            <a:solidFill>
              <a:srgbClr val="D8F5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841425" y="2844425"/>
            <a:ext cx="126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Issuer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841425" y="3053975"/>
            <a:ext cx="1269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signs the alert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076625" y="2158625"/>
            <a:ext cx="609600" cy="609600"/>
          </a:xfrm>
          <a:prstGeom prst="roundRect">
            <a:avLst>
              <a:gd fmla="val 31250" name="adj"/>
            </a:avLst>
          </a:prstGeom>
          <a:solidFill>
            <a:srgbClr val="FFFFFF"/>
          </a:solidFill>
          <a:ln cap="flat" cmpd="sng" w="12700">
            <a:solidFill>
              <a:srgbClr val="D5E0F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52400" rotWithShape="0" algn="t" dir="5400000" dist="63500">
              <a:srgbClr val="1F408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317925" y="2355475"/>
            <a:ext cx="126900" cy="216000"/>
          </a:xfrm>
          <a:prstGeom prst="roundRect">
            <a:avLst>
              <a:gd fmla="val 22500" name="adj"/>
            </a:avLst>
          </a:prstGeom>
          <a:noFill/>
          <a:ln cap="flat" cmpd="sng" w="20950">
            <a:solidFill>
              <a:srgbClr val="24324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533825" y="2095125"/>
            <a:ext cx="216000" cy="216000"/>
          </a:xfrm>
          <a:prstGeom prst="ellipse">
            <a:avLst/>
          </a:prstGeom>
          <a:solidFill>
            <a:srgbClr val="226446"/>
          </a:soli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597325" y="2171325"/>
            <a:ext cx="92075" cy="66675"/>
          </a:xfrm>
          <a:custGeom>
            <a:rect b="b" l="l" r="r" t="t"/>
            <a:pathLst>
              <a:path extrusionOk="0" h="66675" w="92075">
                <a:moveTo>
                  <a:pt x="0" y="34925"/>
                </a:moveTo>
                <a:lnTo>
                  <a:pt x="31750" y="66675"/>
                </a:lnTo>
                <a:lnTo>
                  <a:pt x="92075" y="0"/>
                </a:lnTo>
              </a:path>
            </a:pathLst>
          </a:custGeom>
          <a:noFill/>
          <a:ln cap="rnd" cmpd="sng" w="21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746425" y="2844425"/>
            <a:ext cx="126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746425" y="3053975"/>
            <a:ext cx="12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verifies, stores,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passes 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981625" y="2158625"/>
            <a:ext cx="609600" cy="609600"/>
          </a:xfrm>
          <a:prstGeom prst="roundRect">
            <a:avLst>
              <a:gd fmla="val 31250" name="adj"/>
            </a:avLst>
          </a:prstGeom>
          <a:solidFill>
            <a:srgbClr val="FFFFFF"/>
          </a:solidFill>
          <a:ln cap="flat" cmpd="sng" w="12700">
            <a:solidFill>
              <a:srgbClr val="D5E0F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52400" rotWithShape="0" algn="t" dir="5400000" dist="63500">
              <a:srgbClr val="1F408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5222925" y="2355475"/>
            <a:ext cx="126900" cy="216000"/>
          </a:xfrm>
          <a:prstGeom prst="roundRect">
            <a:avLst>
              <a:gd fmla="val 22500" name="adj"/>
            </a:avLst>
          </a:prstGeom>
          <a:noFill/>
          <a:ln cap="flat" cmpd="sng" w="20950">
            <a:solidFill>
              <a:srgbClr val="24324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438825" y="2095125"/>
            <a:ext cx="216000" cy="216000"/>
          </a:xfrm>
          <a:prstGeom prst="ellipse">
            <a:avLst/>
          </a:prstGeom>
          <a:solidFill>
            <a:srgbClr val="226446"/>
          </a:soli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502325" y="2171325"/>
            <a:ext cx="92075" cy="66675"/>
          </a:xfrm>
          <a:custGeom>
            <a:rect b="b" l="l" r="r" t="t"/>
            <a:pathLst>
              <a:path extrusionOk="0" h="66675" w="92075">
                <a:moveTo>
                  <a:pt x="0" y="34925"/>
                </a:moveTo>
                <a:lnTo>
                  <a:pt x="31750" y="66675"/>
                </a:lnTo>
                <a:lnTo>
                  <a:pt x="92075" y="0"/>
                </a:lnTo>
              </a:path>
            </a:pathLst>
          </a:custGeom>
          <a:noFill/>
          <a:ln cap="rnd" cmpd="sng" w="21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651425" y="2844425"/>
            <a:ext cx="126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651425" y="3053975"/>
            <a:ext cx="12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verifies,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carries it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886625" y="2158625"/>
            <a:ext cx="609600" cy="609600"/>
          </a:xfrm>
          <a:prstGeom prst="roundRect">
            <a:avLst>
              <a:gd fmla="val 31250" name="adj"/>
            </a:avLst>
          </a:prstGeom>
          <a:solidFill>
            <a:srgbClr val="FFFFFF"/>
          </a:solidFill>
          <a:ln cap="flat" cmpd="sng" w="12700">
            <a:solidFill>
              <a:srgbClr val="D5E0F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52400" rotWithShape="0" algn="t" dir="5400000" dist="63500">
              <a:srgbClr val="1F408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127925" y="2355475"/>
            <a:ext cx="126900" cy="216000"/>
          </a:xfrm>
          <a:prstGeom prst="roundRect">
            <a:avLst>
              <a:gd fmla="val 22500" name="adj"/>
            </a:avLst>
          </a:prstGeom>
          <a:noFill/>
          <a:ln cap="flat" cmpd="sng" w="20950">
            <a:solidFill>
              <a:srgbClr val="24324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343825" y="2095125"/>
            <a:ext cx="216000" cy="216000"/>
          </a:xfrm>
          <a:prstGeom prst="ellipse">
            <a:avLst/>
          </a:prstGeom>
          <a:solidFill>
            <a:srgbClr val="226446"/>
          </a:soli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407325" y="2171325"/>
            <a:ext cx="92075" cy="66675"/>
          </a:xfrm>
          <a:custGeom>
            <a:rect b="b" l="l" r="r" t="t"/>
            <a:pathLst>
              <a:path extrusionOk="0" h="66675" w="92075">
                <a:moveTo>
                  <a:pt x="0" y="34925"/>
                </a:moveTo>
                <a:lnTo>
                  <a:pt x="31750" y="66675"/>
                </a:lnTo>
                <a:lnTo>
                  <a:pt x="92075" y="0"/>
                </a:lnTo>
              </a:path>
            </a:pathLst>
          </a:custGeom>
          <a:noFill/>
          <a:ln cap="rnd" cmpd="sng" w="21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556425" y="2844425"/>
            <a:ext cx="126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00" u="none" cap="none" strike="noStrike">
                <a:solidFill>
                  <a:srgbClr val="0F1F3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556425" y="3053975"/>
            <a:ext cx="12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never near A,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still trusts it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080175" y="3371475"/>
            <a:ext cx="222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× forged copies rejected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603925" y="2584143"/>
            <a:ext cx="126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6" title="Logo-huawe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174" y="4661124"/>
            <a:ext cx="1192094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11275" y="1201800"/>
            <a:ext cx="77913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</a:rPr>
              <a:t>Verified emergency alerts that travel </a:t>
            </a:r>
            <a:r>
              <a:rPr b="1" lang="pl">
                <a:solidFill>
                  <a:schemeClr val="dk2"/>
                </a:solidFill>
              </a:rPr>
              <a:t>phone to phone</a:t>
            </a:r>
            <a:r>
              <a:rPr lang="pl">
                <a:solidFill>
                  <a:schemeClr val="dk2"/>
                </a:solidFill>
              </a:rPr>
              <a:t>, when the mobile network is down.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06200" y="3996025"/>
            <a:ext cx="77913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network can fail. </a:t>
            </a:r>
            <a:r>
              <a:rPr lang="pl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The warning still arrives.</a:t>
            </a:r>
            <a:endParaRPr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