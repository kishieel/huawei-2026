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
  </p:notesMasterIdLst>
  <p:sldIdLst>
    <p:sldId id="2147475647" r:id="rId2"/>
    <p:sldId id="2147475648" r:id="rId8"/>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014" autoAdjust="0"/>
    <p:restoredTop sz="94660"/>
  </p:normalViewPr>
  <p:slideViewPr>
    <p:cSldViewPr snapToGrid="0">
      <p:cViewPr>
        <p:scale>
          <a:sx n="125" d="100"/>
          <a:sy n="125" d="100"/>
        </p:scale>
        <p:origin x="870" y="85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 Id="rId8"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9260164-FC2F-4616-A05B-E6C491361946}" type="datetimeFigureOut">
              <a:rPr lang="zh-CN" altLang="en-US" smtClean="0"/>
              <a:t>2026/10/8</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031E35C-218F-415C-860A-363673A8BC21}" type="slidenum">
              <a:rPr lang="zh-CN" altLang="en-US" smtClean="0"/>
              <a:t>‹#›</a:t>
            </a:fld>
            <a:endParaRPr lang="zh-CN" altLang="en-US"/>
          </a:p>
        </p:txBody>
      </p:sp>
    </p:spTree>
    <p:extLst>
      <p:ext uri="{BB962C8B-B14F-4D97-AF65-F5344CB8AC3E}">
        <p14:creationId xmlns:p14="http://schemas.microsoft.com/office/powerpoint/2010/main" val="17900827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Thank you very much for this invitation, and congratulations to all the teams.</a:t>
            </a:r>
          </a:p>
          <a:p>
            <a:r>
              <a:t>My name is Tomasz, and I represent Carrotly, a team of creative engineers from Kraków, in Poland. At the HackYeah hackathon we built SafeMesh, and it won second place in the Huawei challenge. But what is SafeMesh?</a:t>
            </a:r>
          </a:p>
          <a:p>
            <a:r>
              <a:t>Imagine a crisis in your city: a flood, a blackout, or a drone strike. The cell towers go down, and your phone shows only one thing: "no service". In a critical situation without clear guidance, people panic, rumours spread, and everything quickly turns into chaos. This is exactly when we need a reliable emergency alert system. But today, government alerts mostly come through the mobile network. Without towers, they cannot arrive.</a:t>
            </a:r>
          </a:p>
          <a:p>
            <a:r>
              <a:t>SafeMesh solves this. With our application, an official issuer can send a digitally signed warning to the devices in range, using NearLink. Phone A receives it and passes it to the devices in its own range, like phone B. Then B passes it further to C. Every phone checks the signature by itself. If someone changes even one bit of the message, the signature breaks, and the phone rejects it and drops it from the network. C was never near the source, yet it still gets a warning it can trust.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built SafeMesh in twenty-four hours, as a native HarmonyOS app. It has three parts. Signed alerts, checked on the phone with the Crypto Architecture Kit. A phone-to-phone relay, with a NearLink Kit adapter. And an offline map with protective points near the user's location.</a:t>
            </a:r>
          </a:p>
          <a:p>
            <a:r>
              <a:t>Our next step would be to extend SafeMesh beyond NearLink, to Bluetooth and Wi-Fi, and to test NearLink on real phones. We would be very happy to do it together with Huawei.</a:t>
            </a:r>
          </a:p>
          <a:p>
            <a:r>
              <a:t>With SafeMesh, even when the network fails, the warning still arrives.</a:t>
            </a:r>
          </a:p>
          <a:p>
            <a:r>
              <a:t>Thank you very much.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自定义版式">
    <p:spTree>
      <p:nvGrpSpPr>
        <p:cNvPr id="1" name=""/>
        <p:cNvGrpSpPr/>
        <p:nvPr/>
      </p:nvGrpSpPr>
      <p:grpSpPr>
        <a:xfrm>
          <a:off x="0" y="0"/>
          <a:ext cx="0" cy="0"/>
          <a:chOff x="0" y="0"/>
          <a:chExt cx="0" cy="0"/>
        </a:xfrm>
      </p:grpSpPr>
      <p:pic>
        <p:nvPicPr>
          <p:cNvPr id="3" name="图片 2">
            <a:extLst>
              <a:ext uri="{FF2B5EF4-FFF2-40B4-BE49-F238E27FC236}">
                <a16:creationId xmlns:a16="http://schemas.microsoft.com/office/drawing/2014/main" id="{BEDC39BB-75B6-12F5-A921-88B5B867E761}"/>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0548938" y="6330950"/>
            <a:ext cx="1249362"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 name="图片 3">
            <a:extLst>
              <a:ext uri="{FF2B5EF4-FFF2-40B4-BE49-F238E27FC236}">
                <a16:creationId xmlns:a16="http://schemas.microsoft.com/office/drawing/2014/main" id="{C98065F4-45E5-20F9-8919-73FE901EC35C}"/>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9332913" y="6248400"/>
            <a:ext cx="954087" cy="4286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050" name="Picture 2">
            <a:extLst>
              <a:ext uri="{FF2B5EF4-FFF2-40B4-BE49-F238E27FC236}">
                <a16:creationId xmlns:a16="http://schemas.microsoft.com/office/drawing/2014/main" id="{7F28869E-C037-4FE9-BD97-2A26E4041634}"/>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1805792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4A50E8FD-E3DF-42D3-8D23-D897BF9358B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D99B87BE-896D-47D4-AF6A-9DEEB368A3C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D66012CE-5624-492F-BE5E-EC7BA4FF8B6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F1321D7-82DF-43D4-8770-75A2B15C3250}" type="datetimeFigureOut">
              <a:rPr lang="zh-CN" altLang="en-US" smtClean="0"/>
              <a:t>2026/10/8</a:t>
            </a:fld>
            <a:endParaRPr lang="zh-CN" altLang="en-US"/>
          </a:p>
        </p:txBody>
      </p:sp>
      <p:sp>
        <p:nvSpPr>
          <p:cNvPr id="5" name="页脚占位符 4">
            <a:extLst>
              <a:ext uri="{FF2B5EF4-FFF2-40B4-BE49-F238E27FC236}">
                <a16:creationId xmlns:a16="http://schemas.microsoft.com/office/drawing/2014/main" id="{BE4E0A97-EA4F-4336-9CF8-29EEB9E09A6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a:extLst>
              <a:ext uri="{FF2B5EF4-FFF2-40B4-BE49-F238E27FC236}">
                <a16:creationId xmlns:a16="http://schemas.microsoft.com/office/drawing/2014/main" id="{B2B8596E-31EF-471C-BF23-532A38F2DA3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1B6F79C-5B6D-486C-9AF6-AB5CFCCCDB73}" type="slidenum">
              <a:rPr lang="zh-CN" altLang="en-US" smtClean="0"/>
              <a:t>‹#›</a:t>
            </a:fld>
            <a:endParaRPr lang="zh-CN" altLang="en-US"/>
          </a:p>
        </p:txBody>
      </p:sp>
    </p:spTree>
    <p:extLst>
      <p:ext uri="{BB962C8B-B14F-4D97-AF65-F5344CB8AC3E}">
        <p14:creationId xmlns:p14="http://schemas.microsoft.com/office/powerpoint/2010/main" val="2368039494"/>
      </p:ext>
    </p:extLst>
  </p:cSld>
  <p:clrMap bg1="lt1" tx1="dk1" bg2="lt2" tx2="dk2" accent1="accent1" accent2="accent2" accent3="accent3" accent4="accent4" accent5="accent5" accent6="accent6" hlink="hlink" folHlink="folHlink"/>
  <p:sldLayoutIdLst>
    <p:sldLayoutId id="214748366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1.xml"/><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Slide content (image)" descr="slide-1-no-diagram.png"/>
          <p:cNvPicPr>
            <a:picLocks noChangeAspect="1"/>
          </p:cNvPicPr>
          <p:nvPr/>
        </p:nvPicPr>
        <p:blipFill>
          <a:blip r:embed="rId4"/>
          <a:stretch>
            <a:fillRect/>
          </a:stretch>
        </p:blipFill>
        <p:spPr>
          <a:xfrm>
            <a:off x="0" y="0"/>
            <a:ext cx="12192000" cy="6858000"/>
          </a:xfrm>
          <a:prstGeom prst="rect">
            <a:avLst/>
          </a:prstGeom>
        </p:spPr>
      </p:pic>
      <p:cxnSp>
        <p:nvCxnSpPr>
          <p:cNvPr id="4" name="Arrow issuer to A"/>
          <p:cNvCxnSpPr/>
          <p:nvPr/>
        </p:nvCxnSpPr>
        <p:spPr>
          <a:xfrm>
            <a:off x="1530350" y="4940300"/>
            <a:ext cx="1181100" cy="0"/>
          </a:xfrm>
          <a:prstGeom prst="line">
            <a:avLst/>
          </a:prstGeom>
          <a:ln w="25400">
            <a:solidFill>
              <a:srgbClr val="1B5A4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 name="Arrow A to B"/>
          <p:cNvCxnSpPr/>
          <p:nvPr/>
        </p:nvCxnSpPr>
        <p:spPr>
          <a:xfrm>
            <a:off x="3435350" y="4940300"/>
            <a:ext cx="1181100" cy="0"/>
          </a:xfrm>
          <a:prstGeom prst="line">
            <a:avLst/>
          </a:prstGeom>
          <a:ln w="25400" cap="rnd">
            <a:solidFill>
              <a:srgbClr val="1B5A46"/>
            </a:solidFill>
            <a:prstDash val="sysDot"/>
            <a:tailEnd type="triangle" w="med" len="med"/>
          </a:ln>
        </p:spPr>
        <p:style>
          <a:lnRef idx="2">
            <a:schemeClr val="accent1"/>
          </a:lnRef>
          <a:fillRef idx="0">
            <a:schemeClr val="accent1"/>
          </a:fillRef>
          <a:effectRef idx="1">
            <a:schemeClr val="accent1"/>
          </a:effectRef>
          <a:fontRef idx="minor">
            <a:schemeClr val="tx1"/>
          </a:fontRef>
        </p:style>
      </p:cxnSp>
      <p:cxnSp>
        <p:nvCxnSpPr>
          <p:cNvPr id="6" name="Arrow B to C"/>
          <p:cNvCxnSpPr/>
          <p:nvPr/>
        </p:nvCxnSpPr>
        <p:spPr>
          <a:xfrm>
            <a:off x="5340350" y="4940300"/>
            <a:ext cx="1181100" cy="0"/>
          </a:xfrm>
          <a:prstGeom prst="line">
            <a:avLst/>
          </a:prstGeom>
          <a:ln w="25400" cap="rnd">
            <a:solidFill>
              <a:srgbClr val="1B5A46"/>
            </a:solidFill>
            <a:prstDash val="sysDot"/>
            <a:tailEnd type="triangle" w="med" len="med"/>
          </a:ln>
        </p:spPr>
        <p:style>
          <a:lnRef idx="2">
            <a:schemeClr val="accent1"/>
          </a:lnRef>
          <a:fillRef idx="0">
            <a:schemeClr val="accent1"/>
          </a:fillRef>
          <a:effectRef idx="1">
            <a:schemeClr val="accent1"/>
          </a:effectRef>
          <a:fontRef idx="minor">
            <a:schemeClr val="tx1"/>
          </a:fontRef>
        </p:style>
      </p:cxnSp>
      <p:sp>
        <p:nvSpPr>
          <p:cNvPr id="7" name="Label NearLink"/>
          <p:cNvSpPr txBox="1"/>
          <p:nvPr/>
        </p:nvSpPr>
        <p:spPr>
          <a:xfrm>
            <a:off x="3397250" y="4692650"/>
            <a:ext cx="1270000" cy="139700"/>
          </a:xfrm>
          <a:prstGeom prst="rect">
            <a:avLst/>
          </a:prstGeom>
          <a:noFill/>
        </p:spPr>
        <p:txBody>
          <a:bodyPr wrap="square" lIns="0" rIns="0" tIns="0" bIns="0" anchor="t">
            <a:spAutoFit/>
          </a:bodyPr>
          <a:lstStyle/>
          <a:p>
            <a:pPr algn="ctr"/>
            <a:r>
              <a:rPr sz="900" b="1">
                <a:solidFill>
                  <a:srgbClr val="5A6A85"/>
                </a:solidFill>
                <a:latin typeface="Arial"/>
              </a:rPr>
              <a:t>NearLink</a:t>
            </a:r>
          </a:p>
        </p:txBody>
      </p:sp>
      <p:sp>
        <p:nvSpPr>
          <p:cNvPr id="8" name="Label later as B walks"/>
          <p:cNvSpPr txBox="1"/>
          <p:nvPr/>
        </p:nvSpPr>
        <p:spPr>
          <a:xfrm>
            <a:off x="5302250" y="4692650"/>
            <a:ext cx="1270000" cy="139700"/>
          </a:xfrm>
          <a:prstGeom prst="rect">
            <a:avLst/>
          </a:prstGeom>
          <a:noFill/>
        </p:spPr>
        <p:txBody>
          <a:bodyPr wrap="square" lIns="0" rIns="0" tIns="0" bIns="0" anchor="t">
            <a:spAutoFit/>
          </a:bodyPr>
          <a:lstStyle/>
          <a:p>
            <a:pPr algn="ctr"/>
            <a:r>
              <a:rPr sz="900" b="1">
                <a:solidFill>
                  <a:srgbClr val="5A6A85"/>
                </a:solidFill>
                <a:latin typeface="Arial"/>
              </a:rPr>
              <a:t>later, as B walks</a:t>
            </a:r>
          </a:p>
        </p:txBody>
      </p:sp>
      <p:sp>
        <p:nvSpPr>
          <p:cNvPr id="9" name="Issuer square"/>
          <p:cNvSpPr/>
          <p:nvPr/>
        </p:nvSpPr>
        <p:spPr>
          <a:xfrm>
            <a:off x="869950" y="4635500"/>
            <a:ext cx="609600" cy="609600"/>
          </a:xfrm>
          <a:prstGeom prst="roundRect">
            <a:avLst>
              <a:gd name="adj" fmla="val 31250"/>
            </a:avLst>
          </a:prstGeom>
          <a:solidFill>
            <a:srgbClr val="1B5A46"/>
          </a:solidFill>
          <a:ln>
            <a:noFill/>
          </a:ln>
          <a:effectLst/>
          <a:effectLst>
            <a:outerShdw blurRad="152400" dist="63500" dir="5400000" algn="t" rotWithShape="0">
              <a:srgbClr val="1F4080">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Key ring"/>
          <p:cNvSpPr/>
          <p:nvPr/>
        </p:nvSpPr>
        <p:spPr>
          <a:xfrm>
            <a:off x="1081617" y="4928658"/>
            <a:ext cx="93133" cy="93133"/>
          </a:xfrm>
          <a:prstGeom prst="ellipse">
            <a:avLst/>
          </a:prstGeom>
          <a:noFill/>
          <a:ln w="22860">
            <a:solidFill>
              <a:srgbClr val="D8F5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Key shaft"/>
          <p:cNvSpPr/>
          <p:nvPr/>
        </p:nvSpPr>
        <p:spPr>
          <a:xfrm>
            <a:off x="1163108" y="4835525"/>
            <a:ext cx="104775" cy="104775"/>
          </a:xfrm>
          <a:custGeom>
            <a:avLst/>
            <a:gdLst/>
            <a:ahLst/>
            <a:cxnLst/>
            <a:rect l="l" t="t" r="r" b="b"/>
            <a:pathLst>
              <a:path w="104775" h="104775">
                <a:moveTo>
                  <a:pt x="0" y="104775"/>
                </a:moveTo>
                <a:lnTo>
                  <a:pt x="104775" y="0"/>
                </a:lnTo>
              </a:path>
            </a:pathLst>
          </a:custGeom>
          <a:noFill/>
          <a:ln w="22860" cap="rnd">
            <a:solidFill>
              <a:srgbClr val="D8F5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Key tooth 1"/>
          <p:cNvSpPr/>
          <p:nvPr/>
        </p:nvSpPr>
        <p:spPr>
          <a:xfrm>
            <a:off x="1232958" y="4870450"/>
            <a:ext cx="34925" cy="34925"/>
          </a:xfrm>
          <a:custGeom>
            <a:avLst/>
            <a:gdLst/>
            <a:ahLst/>
            <a:cxnLst/>
            <a:rect l="l" t="t" r="r" b="b"/>
            <a:pathLst>
              <a:path w="34925" h="34925">
                <a:moveTo>
                  <a:pt x="0" y="0"/>
                </a:moveTo>
                <a:lnTo>
                  <a:pt x="34925" y="34925"/>
                </a:lnTo>
              </a:path>
            </a:pathLst>
          </a:custGeom>
          <a:noFill/>
          <a:ln w="22860" cap="rnd">
            <a:solidFill>
              <a:srgbClr val="D8F5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Key tooth 2"/>
          <p:cNvSpPr/>
          <p:nvPr/>
        </p:nvSpPr>
        <p:spPr>
          <a:xfrm>
            <a:off x="1209675" y="4893733"/>
            <a:ext cx="23283" cy="23284"/>
          </a:xfrm>
          <a:custGeom>
            <a:avLst/>
            <a:gdLst/>
            <a:ahLst/>
            <a:cxnLst/>
            <a:rect l="l" t="t" r="r" b="b"/>
            <a:pathLst>
              <a:path w="23283" h="23284">
                <a:moveTo>
                  <a:pt x="0" y="0"/>
                </a:moveTo>
                <a:lnTo>
                  <a:pt x="23283" y="23284"/>
                </a:lnTo>
              </a:path>
            </a:pathLst>
          </a:custGeom>
          <a:noFill/>
          <a:ln w="22860" cap="rnd">
            <a:solidFill>
              <a:srgbClr val="D8F5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Issuer title"/>
          <p:cNvSpPr txBox="1"/>
          <p:nvPr/>
        </p:nvSpPr>
        <p:spPr>
          <a:xfrm>
            <a:off x="539750" y="5321300"/>
            <a:ext cx="1270000" cy="190500"/>
          </a:xfrm>
          <a:prstGeom prst="rect">
            <a:avLst/>
          </a:prstGeom>
          <a:noFill/>
        </p:spPr>
        <p:txBody>
          <a:bodyPr wrap="square" lIns="0" rIns="0" tIns="0" bIns="0" anchor="t">
            <a:spAutoFit/>
          </a:bodyPr>
          <a:lstStyle/>
          <a:p>
            <a:pPr algn="ctr"/>
            <a:r>
              <a:rPr sz="1200" b="1">
                <a:solidFill>
                  <a:srgbClr val="0F1F3D"/>
                </a:solidFill>
                <a:latin typeface="Arial"/>
              </a:rPr>
              <a:t>Issuer</a:t>
            </a:r>
          </a:p>
        </p:txBody>
      </p:sp>
      <p:sp>
        <p:nvSpPr>
          <p:cNvPr id="14" name="Issuer description"/>
          <p:cNvSpPr txBox="1"/>
          <p:nvPr/>
        </p:nvSpPr>
        <p:spPr>
          <a:xfrm>
            <a:off x="539750" y="5530850"/>
            <a:ext cx="1270000" cy="317500"/>
          </a:xfrm>
          <a:prstGeom prst="rect">
            <a:avLst/>
          </a:prstGeom>
          <a:noFill/>
        </p:spPr>
        <p:txBody>
          <a:bodyPr wrap="square" lIns="0" rIns="0" tIns="0" bIns="0" anchor="t">
            <a:spAutoFit/>
          </a:bodyPr>
          <a:lstStyle/>
          <a:p>
            <a:pPr algn="ctr"/>
            <a:r>
              <a:rPr sz="900" b="0">
                <a:solidFill>
                  <a:srgbClr val="5A6A85"/>
                </a:solidFill>
                <a:latin typeface="Arial"/>
              </a:rPr>
              <a:t>signs the alert</a:t>
            </a:r>
          </a:p>
        </p:txBody>
      </p:sp>
      <p:sp>
        <p:nvSpPr>
          <p:cNvPr id="15" name="Phone A square"/>
          <p:cNvSpPr/>
          <p:nvPr/>
        </p:nvSpPr>
        <p:spPr>
          <a:xfrm>
            <a:off x="2774950" y="4635500"/>
            <a:ext cx="609600" cy="609600"/>
          </a:xfrm>
          <a:prstGeom prst="roundRect">
            <a:avLst>
              <a:gd name="adj" fmla="val 31250"/>
            </a:avLst>
          </a:prstGeom>
          <a:solidFill>
            <a:srgbClr val="FFFFFF"/>
          </a:solidFill>
          <a:ln w="12700">
            <a:solidFill>
              <a:srgbClr val="D5E0F2"/>
            </a:solidFill>
          </a:ln>
          <a:effectLst/>
          <a:effectLst>
            <a:outerShdw blurRad="152400" dist="63500" dir="5400000" algn="t" rotWithShape="0">
              <a:srgbClr val="1F4080">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hone A icon"/>
          <p:cNvSpPr/>
          <p:nvPr/>
        </p:nvSpPr>
        <p:spPr>
          <a:xfrm>
            <a:off x="3016250" y="4832350"/>
            <a:ext cx="127000" cy="215900"/>
          </a:xfrm>
          <a:prstGeom prst="roundRect">
            <a:avLst>
              <a:gd name="adj" fmla="val 22500"/>
            </a:avLst>
          </a:prstGeom>
          <a:noFill/>
          <a:ln w="20955">
            <a:solidFill>
              <a:srgbClr val="24324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hone A check"/>
          <p:cNvSpPr/>
          <p:nvPr/>
        </p:nvSpPr>
        <p:spPr>
          <a:xfrm>
            <a:off x="3232150" y="4572000"/>
            <a:ext cx="215900" cy="215900"/>
          </a:xfrm>
          <a:prstGeom prst="ellipse">
            <a:avLst/>
          </a:prstGeom>
          <a:solidFill>
            <a:srgbClr val="226446"/>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hone A check mark"/>
          <p:cNvSpPr/>
          <p:nvPr/>
        </p:nvSpPr>
        <p:spPr>
          <a:xfrm>
            <a:off x="3295650" y="4648200"/>
            <a:ext cx="92075" cy="66675"/>
          </a:xfrm>
          <a:custGeom>
            <a:avLst/>
            <a:gdLst/>
            <a:ahLst/>
            <a:cxnLst/>
            <a:rect l="l" t="t" r="r" b="b"/>
            <a:pathLst>
              <a:path w="92075" h="66675">
                <a:moveTo>
                  <a:pt x="0" y="34925"/>
                </a:moveTo>
                <a:lnTo>
                  <a:pt x="31750" y="66675"/>
                </a:lnTo>
                <a:lnTo>
                  <a:pt x="92075" y="0"/>
                </a:lnTo>
              </a:path>
            </a:pathLst>
          </a:custGeom>
          <a:noFill/>
          <a:ln w="21590" cap="rnd">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A title"/>
          <p:cNvSpPr txBox="1"/>
          <p:nvPr/>
        </p:nvSpPr>
        <p:spPr>
          <a:xfrm>
            <a:off x="2444750" y="5321300"/>
            <a:ext cx="1270000" cy="190500"/>
          </a:xfrm>
          <a:prstGeom prst="rect">
            <a:avLst/>
          </a:prstGeom>
          <a:noFill/>
        </p:spPr>
        <p:txBody>
          <a:bodyPr wrap="square" lIns="0" rIns="0" tIns="0" bIns="0" anchor="t">
            <a:spAutoFit/>
          </a:bodyPr>
          <a:lstStyle/>
          <a:p>
            <a:pPr algn="ctr"/>
            <a:r>
              <a:rPr sz="1200" b="1">
                <a:solidFill>
                  <a:srgbClr val="0F1F3D"/>
                </a:solidFill>
                <a:latin typeface="Arial"/>
              </a:rPr>
              <a:t>A</a:t>
            </a:r>
          </a:p>
        </p:txBody>
      </p:sp>
      <p:sp>
        <p:nvSpPr>
          <p:cNvPr id="20" name="A description"/>
          <p:cNvSpPr txBox="1"/>
          <p:nvPr/>
        </p:nvSpPr>
        <p:spPr>
          <a:xfrm>
            <a:off x="2444750" y="5530850"/>
            <a:ext cx="1270000" cy="317500"/>
          </a:xfrm>
          <a:prstGeom prst="rect">
            <a:avLst/>
          </a:prstGeom>
          <a:noFill/>
        </p:spPr>
        <p:txBody>
          <a:bodyPr wrap="square" lIns="0" rIns="0" tIns="0" bIns="0" anchor="t">
            <a:spAutoFit/>
          </a:bodyPr>
          <a:lstStyle/>
          <a:p>
            <a:pPr algn="ctr"/>
            <a:r>
              <a:rPr sz="900" b="0">
                <a:solidFill>
                  <a:srgbClr val="5A6A85"/>
                </a:solidFill>
                <a:latin typeface="Arial"/>
              </a:rPr>
              <a:t>verifies, stores,</a:t>
            </a:r>
          </a:p>
          <a:p>
            <a:pPr algn="ctr"/>
            <a:r>
              <a:rPr sz="900" b="0">
                <a:solidFill>
                  <a:srgbClr val="5A6A85"/>
                </a:solidFill>
                <a:latin typeface="Arial"/>
              </a:rPr>
              <a:t>passes on</a:t>
            </a:r>
          </a:p>
        </p:txBody>
      </p:sp>
      <p:sp>
        <p:nvSpPr>
          <p:cNvPr id="21" name="Phone B square"/>
          <p:cNvSpPr/>
          <p:nvPr/>
        </p:nvSpPr>
        <p:spPr>
          <a:xfrm>
            <a:off x="4679950" y="4635500"/>
            <a:ext cx="609600" cy="609600"/>
          </a:xfrm>
          <a:prstGeom prst="roundRect">
            <a:avLst>
              <a:gd name="adj" fmla="val 31250"/>
            </a:avLst>
          </a:prstGeom>
          <a:solidFill>
            <a:srgbClr val="FFFFFF"/>
          </a:solidFill>
          <a:ln w="12700">
            <a:solidFill>
              <a:srgbClr val="D5E0F2"/>
            </a:solidFill>
          </a:ln>
          <a:effectLst/>
          <a:effectLst>
            <a:outerShdw blurRad="152400" dist="63500" dir="5400000" algn="t" rotWithShape="0">
              <a:srgbClr val="1F4080">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hone B icon"/>
          <p:cNvSpPr/>
          <p:nvPr/>
        </p:nvSpPr>
        <p:spPr>
          <a:xfrm>
            <a:off x="4921250" y="4832350"/>
            <a:ext cx="127000" cy="215900"/>
          </a:xfrm>
          <a:prstGeom prst="roundRect">
            <a:avLst>
              <a:gd name="adj" fmla="val 22500"/>
            </a:avLst>
          </a:prstGeom>
          <a:noFill/>
          <a:ln w="20955">
            <a:solidFill>
              <a:srgbClr val="24324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hone B check"/>
          <p:cNvSpPr/>
          <p:nvPr/>
        </p:nvSpPr>
        <p:spPr>
          <a:xfrm>
            <a:off x="5137150" y="4572000"/>
            <a:ext cx="215900" cy="215900"/>
          </a:xfrm>
          <a:prstGeom prst="ellipse">
            <a:avLst/>
          </a:prstGeom>
          <a:solidFill>
            <a:srgbClr val="226446"/>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hone B check mark"/>
          <p:cNvSpPr/>
          <p:nvPr/>
        </p:nvSpPr>
        <p:spPr>
          <a:xfrm>
            <a:off x="5200650" y="4648200"/>
            <a:ext cx="92075" cy="66675"/>
          </a:xfrm>
          <a:custGeom>
            <a:avLst/>
            <a:gdLst/>
            <a:ahLst/>
            <a:cxnLst/>
            <a:rect l="l" t="t" r="r" b="b"/>
            <a:pathLst>
              <a:path w="92075" h="66675">
                <a:moveTo>
                  <a:pt x="0" y="34925"/>
                </a:moveTo>
                <a:lnTo>
                  <a:pt x="31750" y="66675"/>
                </a:lnTo>
                <a:lnTo>
                  <a:pt x="92075" y="0"/>
                </a:lnTo>
              </a:path>
            </a:pathLst>
          </a:custGeom>
          <a:noFill/>
          <a:ln w="21590" cap="rnd">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 title"/>
          <p:cNvSpPr txBox="1"/>
          <p:nvPr/>
        </p:nvSpPr>
        <p:spPr>
          <a:xfrm>
            <a:off x="4349750" y="5321300"/>
            <a:ext cx="1270000" cy="190500"/>
          </a:xfrm>
          <a:prstGeom prst="rect">
            <a:avLst/>
          </a:prstGeom>
          <a:noFill/>
        </p:spPr>
        <p:txBody>
          <a:bodyPr wrap="square" lIns="0" rIns="0" tIns="0" bIns="0" anchor="t">
            <a:spAutoFit/>
          </a:bodyPr>
          <a:lstStyle/>
          <a:p>
            <a:pPr algn="ctr"/>
            <a:r>
              <a:rPr sz="1200" b="1">
                <a:solidFill>
                  <a:srgbClr val="0F1F3D"/>
                </a:solidFill>
                <a:latin typeface="Arial"/>
              </a:rPr>
              <a:t>B</a:t>
            </a:r>
          </a:p>
        </p:txBody>
      </p:sp>
      <p:sp>
        <p:nvSpPr>
          <p:cNvPr id="26" name="B description"/>
          <p:cNvSpPr txBox="1"/>
          <p:nvPr/>
        </p:nvSpPr>
        <p:spPr>
          <a:xfrm>
            <a:off x="4349750" y="5530850"/>
            <a:ext cx="1270000" cy="317500"/>
          </a:xfrm>
          <a:prstGeom prst="rect">
            <a:avLst/>
          </a:prstGeom>
          <a:noFill/>
        </p:spPr>
        <p:txBody>
          <a:bodyPr wrap="square" lIns="0" rIns="0" tIns="0" bIns="0" anchor="t">
            <a:spAutoFit/>
          </a:bodyPr>
          <a:lstStyle/>
          <a:p>
            <a:pPr algn="ctr"/>
            <a:r>
              <a:rPr sz="900" b="0">
                <a:solidFill>
                  <a:srgbClr val="5A6A85"/>
                </a:solidFill>
                <a:latin typeface="Arial"/>
              </a:rPr>
              <a:t>verifies,</a:t>
            </a:r>
          </a:p>
          <a:p>
            <a:pPr algn="ctr"/>
            <a:r>
              <a:rPr sz="900" b="0">
                <a:solidFill>
                  <a:srgbClr val="5A6A85"/>
                </a:solidFill>
                <a:latin typeface="Arial"/>
              </a:rPr>
              <a:t>carries it</a:t>
            </a:r>
          </a:p>
        </p:txBody>
      </p:sp>
      <p:sp>
        <p:nvSpPr>
          <p:cNvPr id="27" name="Phone C square"/>
          <p:cNvSpPr/>
          <p:nvPr/>
        </p:nvSpPr>
        <p:spPr>
          <a:xfrm>
            <a:off x="6584950" y="4635500"/>
            <a:ext cx="609600" cy="609600"/>
          </a:xfrm>
          <a:prstGeom prst="roundRect">
            <a:avLst>
              <a:gd name="adj" fmla="val 31250"/>
            </a:avLst>
          </a:prstGeom>
          <a:solidFill>
            <a:srgbClr val="FFFFFF"/>
          </a:solidFill>
          <a:ln w="12700">
            <a:solidFill>
              <a:srgbClr val="D5E0F2"/>
            </a:solidFill>
          </a:ln>
          <a:effectLst/>
          <a:effectLst>
            <a:outerShdw blurRad="152400" dist="63500" dir="5400000" algn="t" rotWithShape="0">
              <a:srgbClr val="1F4080">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hone C icon"/>
          <p:cNvSpPr/>
          <p:nvPr/>
        </p:nvSpPr>
        <p:spPr>
          <a:xfrm>
            <a:off x="6826250" y="4832350"/>
            <a:ext cx="127000" cy="215900"/>
          </a:xfrm>
          <a:prstGeom prst="roundRect">
            <a:avLst>
              <a:gd name="adj" fmla="val 22500"/>
            </a:avLst>
          </a:prstGeom>
          <a:noFill/>
          <a:ln w="20955">
            <a:solidFill>
              <a:srgbClr val="24324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hone C check"/>
          <p:cNvSpPr/>
          <p:nvPr/>
        </p:nvSpPr>
        <p:spPr>
          <a:xfrm>
            <a:off x="7042150" y="4572000"/>
            <a:ext cx="215900" cy="215900"/>
          </a:xfrm>
          <a:prstGeom prst="ellipse">
            <a:avLst/>
          </a:prstGeom>
          <a:solidFill>
            <a:srgbClr val="226446"/>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hone C check mark"/>
          <p:cNvSpPr/>
          <p:nvPr/>
        </p:nvSpPr>
        <p:spPr>
          <a:xfrm>
            <a:off x="7105650" y="4648200"/>
            <a:ext cx="92075" cy="66675"/>
          </a:xfrm>
          <a:custGeom>
            <a:avLst/>
            <a:gdLst/>
            <a:ahLst/>
            <a:cxnLst/>
            <a:rect l="l" t="t" r="r" b="b"/>
            <a:pathLst>
              <a:path w="92075" h="66675">
                <a:moveTo>
                  <a:pt x="0" y="34925"/>
                </a:moveTo>
                <a:lnTo>
                  <a:pt x="31750" y="66675"/>
                </a:lnTo>
                <a:lnTo>
                  <a:pt x="92075" y="0"/>
                </a:lnTo>
              </a:path>
            </a:pathLst>
          </a:custGeom>
          <a:noFill/>
          <a:ln w="21590" cap="rnd">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C title"/>
          <p:cNvSpPr txBox="1"/>
          <p:nvPr/>
        </p:nvSpPr>
        <p:spPr>
          <a:xfrm>
            <a:off x="6254750" y="5321300"/>
            <a:ext cx="1270000" cy="190500"/>
          </a:xfrm>
          <a:prstGeom prst="rect">
            <a:avLst/>
          </a:prstGeom>
          <a:noFill/>
        </p:spPr>
        <p:txBody>
          <a:bodyPr wrap="square" lIns="0" rIns="0" tIns="0" bIns="0" anchor="t">
            <a:spAutoFit/>
          </a:bodyPr>
          <a:lstStyle/>
          <a:p>
            <a:pPr algn="ctr"/>
            <a:r>
              <a:rPr sz="1200" b="1">
                <a:solidFill>
                  <a:srgbClr val="0F1F3D"/>
                </a:solidFill>
                <a:latin typeface="Arial"/>
              </a:rPr>
              <a:t>C</a:t>
            </a:r>
          </a:p>
        </p:txBody>
      </p:sp>
      <p:sp>
        <p:nvSpPr>
          <p:cNvPr id="32" name="C description"/>
          <p:cNvSpPr txBox="1"/>
          <p:nvPr/>
        </p:nvSpPr>
        <p:spPr>
          <a:xfrm>
            <a:off x="6254750" y="5530850"/>
            <a:ext cx="1270000" cy="317500"/>
          </a:xfrm>
          <a:prstGeom prst="rect">
            <a:avLst/>
          </a:prstGeom>
          <a:noFill/>
        </p:spPr>
        <p:txBody>
          <a:bodyPr wrap="square" lIns="0" rIns="0" tIns="0" bIns="0" anchor="t">
            <a:spAutoFit/>
          </a:bodyPr>
          <a:lstStyle/>
          <a:p>
            <a:pPr algn="ctr"/>
            <a:r>
              <a:rPr sz="900" b="0">
                <a:solidFill>
                  <a:srgbClr val="5A6A85"/>
                </a:solidFill>
                <a:latin typeface="Arial"/>
              </a:rPr>
              <a:t>never near A,</a:t>
            </a:r>
          </a:p>
          <a:p>
            <a:pPr algn="ctr"/>
            <a:r>
              <a:rPr sz="900" b="0">
                <a:solidFill>
                  <a:srgbClr val="5A6A85"/>
                </a:solidFill>
                <a:latin typeface="Arial"/>
              </a:rPr>
              <a:t>still trusts it</a:t>
            </a:r>
          </a:p>
        </p:txBody>
      </p:sp>
      <p:sp>
        <p:nvSpPr>
          <p:cNvPr id="33" name="C forged copies rejected"/>
          <p:cNvSpPr txBox="1"/>
          <p:nvPr/>
        </p:nvSpPr>
        <p:spPr>
          <a:xfrm>
            <a:off x="5778500" y="5848350"/>
            <a:ext cx="2222500" cy="152400"/>
          </a:xfrm>
          <a:prstGeom prst="rect">
            <a:avLst/>
          </a:prstGeom>
          <a:noFill/>
        </p:spPr>
        <p:txBody>
          <a:bodyPr wrap="square" lIns="0" rIns="0" tIns="0" bIns="0" anchor="t">
            <a:spAutoFit/>
          </a:bodyPr>
          <a:lstStyle/>
          <a:p>
            <a:pPr algn="ctr"/>
            <a:r>
              <a:rPr sz="900" b="1">
                <a:solidFill>
                  <a:srgbClr val="A33826"/>
                </a:solidFill>
                <a:latin typeface="Arial"/>
              </a:rPr>
              <a:t>× forged copies rejected</a:t>
            </a:r>
          </a:p>
        </p:txBody>
      </p:sp>
    </p:spTree>
    <p:extLst>
      <p:ext uri="{BB962C8B-B14F-4D97-AF65-F5344CB8AC3E}">
        <p14:creationId xmlns:p14="http://schemas.microsoft.com/office/powerpoint/2010/main" val="834361620"/>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5566</TotalTime>
  <Words>0</Words>
  <Application>Microsoft Office PowerPoint</Application>
  <PresentationFormat>Widescreen</PresentationFormat>
  <Paragraphs>0</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等线</vt:lpstr>
      <vt:lpstr>等线 Light</vt:lpstr>
      <vt:lpstr>Arial</vt:lpstr>
      <vt:lpstr>Office 主题​​</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SafeMesh · Harmony Innovation Summit 2026</dc:title>
  <dc:creator>wangxi (F)</dc:creator>
  <cp:lastModifiedBy>Jaroslaw Marek</cp:lastModifiedBy>
  <cp:revision>84</cp:revision>
  <dcterms:created xsi:type="dcterms:W3CDTF">2026-08-24T06:51:36Z</dcterms:created>
  <dcterms:modified xsi:type="dcterms:W3CDTF">2026-10-08T12:04:07Z</dcterms:modified>
</cp:coreProperties>
</file>